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56" r:id="rId3"/>
    <p:sldId id="257" r:id="rId4"/>
    <p:sldId id="258"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8"/>
  </p:normalViewPr>
  <p:slideViewPr>
    <p:cSldViewPr snapToGrid="0">
      <p:cViewPr varScale="1">
        <p:scale>
          <a:sx n="106" d="100"/>
          <a:sy n="106" d="100"/>
        </p:scale>
        <p:origin x="984"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11A060-5678-5038-EB51-2BEF77CC98F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92158A2-C442-14C5-B2CC-E9AFAB96D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E4AC29A-432F-D515-7DA6-C056F04699BD}"/>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5" name="フッター プレースホルダー 4">
            <a:extLst>
              <a:ext uri="{FF2B5EF4-FFF2-40B4-BE49-F238E27FC236}">
                <a16:creationId xmlns:a16="http://schemas.microsoft.com/office/drawing/2014/main" id="{0B772830-19F3-00F6-BB4D-430AC83004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63EFEA-1159-B2E6-AFAE-80A7FB2C1C0E}"/>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215494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7CC480-0C87-9F47-9B87-0F9031BBCB9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6AA19A-4674-57B9-1E3F-516B78D3E9F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0CA2EF-4113-C90C-8D3A-465BAF714A93}"/>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5" name="フッター プレースホルダー 4">
            <a:extLst>
              <a:ext uri="{FF2B5EF4-FFF2-40B4-BE49-F238E27FC236}">
                <a16:creationId xmlns:a16="http://schemas.microsoft.com/office/drawing/2014/main" id="{554F27EF-E59E-C2E2-332D-B875FCBF5D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BEE5FB-D8B3-97D4-5EA3-97111D19569A}"/>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3957882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44DC2E-C80F-AAC7-8602-58FA5F42322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31116D3-CEFF-D4A9-7930-1A5494EB29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12205DF-6297-1277-E6F5-3A701A9F8380}"/>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5" name="フッター プレースホルダー 4">
            <a:extLst>
              <a:ext uri="{FF2B5EF4-FFF2-40B4-BE49-F238E27FC236}">
                <a16:creationId xmlns:a16="http://schemas.microsoft.com/office/drawing/2014/main" id="{1297C09D-3A1B-A5E6-9156-D7E5628C35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0420B8-784C-04CD-5E41-3EA02D91B885}"/>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648454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8FEE96-5A64-C59C-D72B-6B152A63B52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6BFE9B1-8435-6284-CC50-B14A154CA88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A0DEB7-788B-F326-B073-1FC6E95B817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4A0BE91-4B89-45A1-F7FC-3418518A4173}"/>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6" name="フッター プレースホルダー 5">
            <a:extLst>
              <a:ext uri="{FF2B5EF4-FFF2-40B4-BE49-F238E27FC236}">
                <a16:creationId xmlns:a16="http://schemas.microsoft.com/office/drawing/2014/main" id="{58559D20-375C-2F6F-58F0-7DE97B68FF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DDCD1EF-BBB6-2BCC-1EFD-9AED0AC43166}"/>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387809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46144E-6AB8-CA02-35D1-52C1516E417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B4FD220-A276-5738-6798-9CF3BF82A0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EEE73AC-0FD2-CF53-FCBD-74E068C95C5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F416875-A6F5-5A20-2870-84DD1859D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F66A833-FF95-DF76-E117-B1A081F6EA9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5FAA412-7980-4FD2-AC19-8F5DD20C309E}"/>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8" name="フッター プレースホルダー 7">
            <a:extLst>
              <a:ext uri="{FF2B5EF4-FFF2-40B4-BE49-F238E27FC236}">
                <a16:creationId xmlns:a16="http://schemas.microsoft.com/office/drawing/2014/main" id="{76D1A326-64F7-FBCE-37FC-D31874D1498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84CEA80-8A46-0C7A-E870-C4AB19F4FBFB}"/>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059839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DCB47F-E29A-042C-936A-859855C8170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D784FF2-51FB-BD23-090B-945C9D5E2BF9}"/>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4" name="フッター プレースホルダー 3">
            <a:extLst>
              <a:ext uri="{FF2B5EF4-FFF2-40B4-BE49-F238E27FC236}">
                <a16:creationId xmlns:a16="http://schemas.microsoft.com/office/drawing/2014/main" id="{C03BAE95-F85D-0B9F-0311-384306E09BF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718B538-8E93-0C74-21AE-973493D1E932}"/>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70520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B5DB4A9-6AAA-F393-5091-7BAC5CB71416}"/>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3" name="フッター プレースホルダー 2">
            <a:extLst>
              <a:ext uri="{FF2B5EF4-FFF2-40B4-BE49-F238E27FC236}">
                <a16:creationId xmlns:a16="http://schemas.microsoft.com/office/drawing/2014/main" id="{F106DAD8-65FD-3429-19AE-9577E05D982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0C8B04C-A447-43ED-3EB7-5141E177F425}"/>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190385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5F62C5-E685-9E80-04DB-331D6C57746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F3320E-913A-1FE0-2678-755EFEE9B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3C1D07C-4DAE-4D10-D554-2423B55421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C222C5C-9A49-3914-88FE-8B4BAF89C114}"/>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6" name="フッター プレースホルダー 5">
            <a:extLst>
              <a:ext uri="{FF2B5EF4-FFF2-40B4-BE49-F238E27FC236}">
                <a16:creationId xmlns:a16="http://schemas.microsoft.com/office/drawing/2014/main" id="{86AED1AD-2938-2347-1E00-D18DA1924F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F36CE43-F766-4279-75AB-3F40630C40E5}"/>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99066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4BBB19-61AE-28B1-F584-397E1AA2E94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91AE794-5BC9-30E8-676D-B854FCA3B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EC65828-B8E2-FA7E-AD44-B0B7CACE25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EBAB51F-7CDD-84E7-0CD1-DC0EFD078E99}"/>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6" name="フッター プレースホルダー 5">
            <a:extLst>
              <a:ext uri="{FF2B5EF4-FFF2-40B4-BE49-F238E27FC236}">
                <a16:creationId xmlns:a16="http://schemas.microsoft.com/office/drawing/2014/main" id="{80BDB744-FFB6-5F54-8EBA-1E70D44D160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ADFF9B-7A50-D0EF-0EF7-B24BDBA2A04D}"/>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975249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E483EC-C137-B822-5F49-4F654BBA8DD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C002139-CB4E-0CA6-3220-14339094429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4574DC-CF5C-E98A-ECA2-45AC3B283173}"/>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5" name="フッター プレースホルダー 4">
            <a:extLst>
              <a:ext uri="{FF2B5EF4-FFF2-40B4-BE49-F238E27FC236}">
                <a16:creationId xmlns:a16="http://schemas.microsoft.com/office/drawing/2014/main" id="{8F158CE9-41B2-F643-EF4F-A9CB97A28D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1FABF5-7F6F-1E77-178C-F5B5A93B4900}"/>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798019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E2C486E-9072-E755-534E-ADC2750380A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E649DEA-3C96-510A-434E-BC19F0393EE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3B308E5-B505-EA3A-6C7F-E4065F45503E}"/>
              </a:ext>
            </a:extLst>
          </p:cNvPr>
          <p:cNvSpPr>
            <a:spLocks noGrp="1"/>
          </p:cNvSpPr>
          <p:nvPr>
            <p:ph type="dt" sz="half" idx="10"/>
          </p:nvPr>
        </p:nvSpPr>
        <p:spPr/>
        <p:txBody>
          <a:bodyPr/>
          <a:lstStyle/>
          <a:p>
            <a:fld id="{8FBA368A-991C-A848-848E-4A6248150EC5}" type="datetimeFigureOut">
              <a:rPr kumimoji="1" lang="ja-JP" altLang="en-US" smtClean="0"/>
              <a:t>2026/2/5</a:t>
            </a:fld>
            <a:endParaRPr kumimoji="1" lang="ja-JP" altLang="en-US"/>
          </a:p>
        </p:txBody>
      </p:sp>
      <p:sp>
        <p:nvSpPr>
          <p:cNvPr id="5" name="フッター プレースホルダー 4">
            <a:extLst>
              <a:ext uri="{FF2B5EF4-FFF2-40B4-BE49-F238E27FC236}">
                <a16:creationId xmlns:a16="http://schemas.microsoft.com/office/drawing/2014/main" id="{99B77096-8DFC-4595-921B-487C31C9575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B3042A-D8C6-FE29-8497-CB0179459C06}"/>
              </a:ext>
            </a:extLst>
          </p:cNvPr>
          <p:cNvSpPr>
            <a:spLocks noGrp="1"/>
          </p:cNvSpPr>
          <p:nvPr>
            <p:ph type="sldNum" sz="quarter" idx="12"/>
          </p:nvPr>
        </p:nvSpPr>
        <p:spPr/>
        <p:txBody>
          <a:body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2132525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7E87A2E-C14C-CD6B-CD4C-CAAECAB13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48F5802-49B2-14CB-AF11-3894971E6F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BC6502-193E-D5FC-29B0-31114B8743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BA368A-991C-A848-848E-4A6248150EC5}" type="datetimeFigureOut">
              <a:rPr kumimoji="1" lang="ja-JP" altLang="en-US" smtClean="0"/>
              <a:t>2026/2/5</a:t>
            </a:fld>
            <a:endParaRPr kumimoji="1" lang="ja-JP" altLang="en-US"/>
          </a:p>
        </p:txBody>
      </p:sp>
      <p:sp>
        <p:nvSpPr>
          <p:cNvPr id="5" name="フッター プレースホルダー 4">
            <a:extLst>
              <a:ext uri="{FF2B5EF4-FFF2-40B4-BE49-F238E27FC236}">
                <a16:creationId xmlns:a16="http://schemas.microsoft.com/office/drawing/2014/main" id="{BA1B7AA2-93CE-A461-777F-04AB135ADD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667DEA5-E32C-6D3D-E461-B99A0821B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8D46F9-073E-5044-B471-725981031C65}" type="slidenum">
              <a:rPr kumimoji="1" lang="ja-JP" altLang="en-US" smtClean="0"/>
              <a:t>‹#›</a:t>
            </a:fld>
            <a:endParaRPr kumimoji="1" lang="ja-JP" altLang="en-US"/>
          </a:p>
        </p:txBody>
      </p:sp>
    </p:spTree>
    <p:extLst>
      <p:ext uri="{BB962C8B-B14F-4D97-AF65-F5344CB8AC3E}">
        <p14:creationId xmlns:p14="http://schemas.microsoft.com/office/powerpoint/2010/main" val="3705910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7E086EB-3D3D-0972-3A88-BCFAE431F07B}"/>
              </a:ext>
            </a:extLst>
          </p:cNvPr>
          <p:cNvSpPr txBox="1"/>
          <p:nvPr/>
        </p:nvSpPr>
        <p:spPr>
          <a:xfrm>
            <a:off x="902368" y="914400"/>
            <a:ext cx="4030579" cy="584775"/>
          </a:xfrm>
          <a:prstGeom prst="rect">
            <a:avLst/>
          </a:prstGeom>
          <a:noFill/>
        </p:spPr>
        <p:txBody>
          <a:bodyPr wrap="square" rtlCol="0">
            <a:spAutoFit/>
          </a:bodyPr>
          <a:lstStyle/>
          <a:p>
            <a:r>
              <a:rPr lang="ja-JP" altLang="en-US" sz="3200"/>
              <a:t>仕様</a:t>
            </a:r>
            <a:endParaRPr kumimoji="1" lang="ja-JP" altLang="en-US" sz="3200"/>
          </a:p>
        </p:txBody>
      </p:sp>
    </p:spTree>
    <p:extLst>
      <p:ext uri="{BB962C8B-B14F-4D97-AF65-F5344CB8AC3E}">
        <p14:creationId xmlns:p14="http://schemas.microsoft.com/office/powerpoint/2010/main" val="408135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D5AB5646-9E5B-A95C-E06D-2B3E8906E335}"/>
              </a:ext>
            </a:extLst>
          </p:cNvPr>
          <p:cNvSpPr txBox="1"/>
          <p:nvPr/>
        </p:nvSpPr>
        <p:spPr>
          <a:xfrm>
            <a:off x="114298" y="0"/>
            <a:ext cx="12077701" cy="6001643"/>
          </a:xfrm>
          <a:prstGeom prst="rect">
            <a:avLst/>
          </a:prstGeom>
          <a:noFill/>
        </p:spPr>
        <p:txBody>
          <a:bodyPr wrap="square">
            <a:spAutoFit/>
          </a:bodyPr>
          <a:lstStyle/>
          <a:p>
            <a:r>
              <a:rPr lang="ja-JP" altLang="en-US" sz="1200"/>
              <a:t>基本的な方針：</a:t>
            </a:r>
          </a:p>
          <a:p>
            <a:r>
              <a:rPr lang="ja-JP" altLang="en-US" sz="1200"/>
              <a:t>・小規模なWEBサイトで、最低限必要な機能に絞る</a:t>
            </a:r>
          </a:p>
          <a:p>
            <a:r>
              <a:rPr lang="ja-JP" altLang="en-US" sz="1200"/>
              <a:t>・無料、アカウント登録無しですぐに利用できる</a:t>
            </a:r>
          </a:p>
          <a:p>
            <a:endParaRPr lang="ja-JP" altLang="en-US" sz="1200"/>
          </a:p>
          <a:p>
            <a:r>
              <a:rPr lang="ja-JP" altLang="en-US" sz="1200"/>
              <a:t>アプリ概要：</a:t>
            </a:r>
          </a:p>
          <a:p>
            <a:r>
              <a:rPr lang="ja-JP" altLang="en-US" sz="1200"/>
              <a:t>・地域のお祭り等で使用できるデジタルスタンプラリー作成機能</a:t>
            </a:r>
          </a:p>
          <a:p>
            <a:r>
              <a:rPr lang="ja-JP" altLang="en-US" sz="1200"/>
              <a:t>・当アプリから発行されるQRコードを会場各地に掲示し、来場者がスマホで読み取ることでスタンプ押印と同等とする</a:t>
            </a:r>
          </a:p>
          <a:p>
            <a:r>
              <a:rPr lang="ja-JP" altLang="en-US" sz="1200"/>
              <a:t>・想定する利用方法は、会場内全て、もしくは主催者が決めた数のスタンプを集めると主催者から来場者に景品が渡されるなど(アプリ内では「ゴール」と表現)</a:t>
            </a:r>
          </a:p>
          <a:p>
            <a:endParaRPr lang="ja-JP" altLang="en-US" sz="1200"/>
          </a:p>
          <a:p>
            <a:r>
              <a:rPr lang="ja-JP" altLang="en-US" sz="1200"/>
              <a:t>アプリから出力されるもの</a:t>
            </a:r>
          </a:p>
          <a:p>
            <a:r>
              <a:rPr lang="ja-JP" altLang="en-US" sz="1200"/>
              <a:t>▲掲示用QRコード(PDFで出力)</a:t>
            </a:r>
          </a:p>
          <a:p>
            <a:r>
              <a:rPr lang="ja-JP" altLang="en-US" sz="1200"/>
              <a:t>　[掲示場所共通]</a:t>
            </a:r>
          </a:p>
          <a:p>
            <a:r>
              <a:rPr lang="ja-JP" altLang="en-US" sz="1200"/>
              <a:t>　・イベントタイトル</a:t>
            </a:r>
          </a:p>
          <a:p>
            <a:r>
              <a:rPr lang="ja-JP" altLang="en-US" sz="1200"/>
              <a:t>　・イベント画像</a:t>
            </a:r>
          </a:p>
          <a:p>
            <a:r>
              <a:rPr lang="ja-JP" altLang="en-US" sz="1200"/>
              <a:t>　・読み取り方法の説明(簡単な)</a:t>
            </a:r>
          </a:p>
          <a:p>
            <a:r>
              <a:rPr lang="ja-JP" altLang="en-US" sz="1200"/>
              <a:t>　・有効期限</a:t>
            </a:r>
          </a:p>
          <a:p>
            <a:r>
              <a:rPr lang="ja-JP" altLang="en-US" sz="1200"/>
              <a:t>　・注意書き</a:t>
            </a:r>
          </a:p>
          <a:p>
            <a:r>
              <a:rPr lang="ja-JP" altLang="en-US" sz="1200"/>
              <a:t>　　・通信が必要</a:t>
            </a:r>
          </a:p>
          <a:p>
            <a:r>
              <a:rPr lang="ja-JP" altLang="en-US" sz="1200"/>
              <a:t>　　・同じ端末で集める必要あり</a:t>
            </a:r>
            <a:endParaRPr lang="en-US" altLang="ja-JP" sz="1200" dirty="0"/>
          </a:p>
          <a:p>
            <a:r>
              <a:rPr lang="ja-JP" altLang="en-US" sz="1200"/>
              <a:t>　・必須</a:t>
            </a:r>
            <a:r>
              <a:rPr lang="en-US" altLang="ja-JP" sz="1200" dirty="0"/>
              <a:t>QR</a:t>
            </a:r>
            <a:r>
              <a:rPr lang="ja-JP" altLang="en-US" sz="1200"/>
              <a:t>コード指定がある場合</a:t>
            </a:r>
            <a:r>
              <a:rPr lang="en-US" altLang="ja-JP" sz="1200" dirty="0"/>
              <a:t>(</a:t>
            </a:r>
            <a:r>
              <a:rPr lang="ja-JP" altLang="en-US" sz="1200"/>
              <a:t>全部集めなくていい場合</a:t>
            </a:r>
            <a:r>
              <a:rPr lang="en-US" altLang="ja-JP" sz="1200" dirty="0"/>
              <a:t>)</a:t>
            </a:r>
            <a:r>
              <a:rPr lang="ja-JP" altLang="en-US" sz="1200"/>
              <a:t>、必須</a:t>
            </a:r>
            <a:r>
              <a:rPr lang="en-US" altLang="ja-JP" sz="1200" dirty="0"/>
              <a:t>QR</a:t>
            </a:r>
            <a:r>
              <a:rPr lang="ja-JP" altLang="en-US" sz="1200"/>
              <a:t>かどうかの表示</a:t>
            </a:r>
          </a:p>
          <a:p>
            <a:r>
              <a:rPr lang="ja-JP" altLang="en-US" sz="1200"/>
              <a:t>　[掲示場所個別]</a:t>
            </a:r>
          </a:p>
          <a:p>
            <a:r>
              <a:rPr lang="ja-JP" altLang="en-US" sz="1200"/>
              <a:t>　・掲示場所名</a:t>
            </a:r>
          </a:p>
          <a:p>
            <a:r>
              <a:rPr lang="ja-JP" altLang="en-US" sz="1200"/>
              <a:t>　・QRコード</a:t>
            </a:r>
          </a:p>
          <a:p>
            <a:r>
              <a:rPr lang="ja-JP" altLang="en-US" sz="1200"/>
              <a:t>▲利用者ゴール</a:t>
            </a:r>
            <a:r>
              <a:rPr lang="en-US" altLang="ja-JP" sz="1200" dirty="0"/>
              <a:t>QR</a:t>
            </a:r>
            <a:r>
              <a:rPr lang="ja-JP" altLang="en-US" sz="1200"/>
              <a:t>コード</a:t>
            </a:r>
            <a:r>
              <a:rPr lang="en-US" altLang="ja-JP" sz="1200" dirty="0"/>
              <a:t>(PDF</a:t>
            </a:r>
            <a:r>
              <a:rPr lang="ja-JP" altLang="en-US" sz="1200"/>
              <a:t>で出力</a:t>
            </a:r>
            <a:r>
              <a:rPr lang="en-US" altLang="ja-JP" sz="1200" dirty="0"/>
              <a:t>)</a:t>
            </a:r>
          </a:p>
          <a:p>
            <a:r>
              <a:rPr lang="ja-JP" altLang="en-US" sz="1200"/>
              <a:t>　・主催者が管理する</a:t>
            </a:r>
            <a:r>
              <a:rPr lang="en-US" altLang="ja-JP" sz="1200" dirty="0"/>
              <a:t>QR</a:t>
            </a:r>
            <a:r>
              <a:rPr lang="ja-JP" altLang="en-US" sz="1200"/>
              <a:t>コード</a:t>
            </a:r>
            <a:endParaRPr lang="en-US" altLang="ja-JP" sz="1200" dirty="0"/>
          </a:p>
          <a:p>
            <a:r>
              <a:rPr lang="ja-JP" altLang="en-US" sz="1200"/>
              <a:t>　・利用者がゴールしたと判断した場合、この</a:t>
            </a:r>
            <a:r>
              <a:rPr lang="en-US" altLang="ja-JP" sz="1200" dirty="0"/>
              <a:t>QR</a:t>
            </a:r>
            <a:r>
              <a:rPr lang="ja-JP" altLang="en-US" sz="1200"/>
              <a:t>コードを読み取ることでゴールとなる</a:t>
            </a:r>
          </a:p>
          <a:p>
            <a:r>
              <a:rPr lang="ja-JP" altLang="en-US" sz="1200"/>
              <a:t>▲集計画面アクセス用QRコード(PDFで出力)</a:t>
            </a:r>
          </a:p>
          <a:p>
            <a:r>
              <a:rPr lang="ja-JP" altLang="en-US" sz="1200"/>
              <a:t>　・主催者が当該QRコードを読み取る or URLを入力すると集計画面が開く</a:t>
            </a:r>
          </a:p>
          <a:p>
            <a:r>
              <a:rPr lang="ja-JP" altLang="en-US" sz="1200"/>
              <a:t>　・PDFには集計画面にアクセスする際のパスワードも記載されている</a:t>
            </a:r>
          </a:p>
          <a:p>
            <a:r>
              <a:rPr lang="ja-JP" altLang="en-US" sz="1200"/>
              <a:t>　・集計画面のURLには、ランダムなトークンを含む(不正アクセス軽減のため)</a:t>
            </a:r>
          </a:p>
          <a:p>
            <a:r>
              <a:rPr lang="ja-JP" altLang="en-US" sz="1200"/>
              <a:t>　・アクセス時のパスワードはあとから主催者が変更可能</a:t>
            </a:r>
          </a:p>
          <a:p>
            <a:endParaRPr lang="ja-JP" altLang="en-US" sz="1200"/>
          </a:p>
        </p:txBody>
      </p:sp>
    </p:spTree>
    <p:extLst>
      <p:ext uri="{BB962C8B-B14F-4D97-AF65-F5344CB8AC3E}">
        <p14:creationId xmlns:p14="http://schemas.microsoft.com/office/powerpoint/2010/main" val="4099416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1524-5A81-322D-B29A-6D8D1C5BDF78}"/>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4EABFEEA-31CE-5680-E749-02F94A6CFD18}"/>
              </a:ext>
            </a:extLst>
          </p:cNvPr>
          <p:cNvSpPr txBox="1"/>
          <p:nvPr/>
        </p:nvSpPr>
        <p:spPr>
          <a:xfrm>
            <a:off x="114298" y="0"/>
            <a:ext cx="12077701" cy="6555641"/>
          </a:xfrm>
          <a:prstGeom prst="rect">
            <a:avLst/>
          </a:prstGeom>
          <a:noFill/>
        </p:spPr>
        <p:txBody>
          <a:bodyPr wrap="square">
            <a:spAutoFit/>
          </a:bodyPr>
          <a:lstStyle/>
          <a:p>
            <a:r>
              <a:rPr lang="ja-JP" altLang="en-US" sz="1200"/>
              <a:t>【基本機能】</a:t>
            </a:r>
          </a:p>
          <a:p>
            <a:r>
              <a:rPr lang="ja-JP" altLang="en-US" sz="1200"/>
              <a:t>○画面</a:t>
            </a:r>
          </a:p>
          <a:p>
            <a:r>
              <a:rPr lang="ja-JP" altLang="en-US" sz="1200"/>
              <a:t>＞ホーム画面</a:t>
            </a:r>
          </a:p>
          <a:p>
            <a:r>
              <a:rPr lang="ja-JP" altLang="en-US" sz="1200"/>
              <a:t>　・「新しいスタンプラリーを作成」</a:t>
            </a:r>
          </a:p>
          <a:p>
            <a:r>
              <a:rPr lang="ja-JP" altLang="en-US" sz="1200"/>
              <a:t>　・「以前作ったスタンプラリーを読み出す」</a:t>
            </a:r>
          </a:p>
          <a:p>
            <a:r>
              <a:rPr lang="ja-JP" altLang="en-US" sz="1200"/>
              <a:t>＞新しいスタンプラリーを作成画面</a:t>
            </a:r>
            <a:r>
              <a:rPr lang="en-US" altLang="ja-JP" sz="1200" dirty="0"/>
              <a:t>(</a:t>
            </a:r>
            <a:r>
              <a:rPr lang="ja-JP" altLang="en-US" sz="1200"/>
              <a:t>主催者</a:t>
            </a:r>
            <a:r>
              <a:rPr lang="en-US" altLang="ja-JP" sz="1200" dirty="0"/>
              <a:t>)</a:t>
            </a:r>
            <a:endParaRPr lang="ja-JP" altLang="en-US" sz="1200"/>
          </a:p>
          <a:p>
            <a:r>
              <a:rPr lang="ja-JP" altLang="en-US" sz="1200"/>
              <a:t>　[入力項目]</a:t>
            </a:r>
          </a:p>
          <a:p>
            <a:r>
              <a:rPr lang="ja-JP" altLang="en-US" sz="1200"/>
              <a:t>　　・行事タイトル入力</a:t>
            </a:r>
          </a:p>
          <a:p>
            <a:r>
              <a:rPr lang="ja-JP" altLang="en-US" sz="1200"/>
              <a:t>　　・イベント画像登録</a:t>
            </a:r>
          </a:p>
          <a:p>
            <a:r>
              <a:rPr lang="ja-JP" altLang="en-US" sz="1200"/>
              <a:t>　　・QRコード有効期間(YYYY年MM月DD日 HH:MM ～ YYYY年MM月DD日 HH:MM)</a:t>
            </a:r>
          </a:p>
          <a:p>
            <a:r>
              <a:rPr lang="ja-JP" altLang="en-US" sz="1200"/>
              <a:t>　　・ゴール達成条件</a:t>
            </a:r>
          </a:p>
          <a:p>
            <a:r>
              <a:rPr lang="ja-JP" altLang="en-US" sz="1200" strike="sngStrike"/>
              <a:t>　　　・全スタンプを集めたら</a:t>
            </a:r>
          </a:p>
          <a:p>
            <a:r>
              <a:rPr lang="ja-JP" altLang="en-US" sz="1200" strike="sngStrike"/>
              <a:t>　　　・N個のスタンプを集めたら</a:t>
            </a:r>
          </a:p>
          <a:p>
            <a:r>
              <a:rPr lang="ja-JP" altLang="en-US" sz="1200" strike="sngStrike"/>
              <a:t>　　　　・必須スタンプ設定(XXXとXXXは必須にする)</a:t>
            </a:r>
            <a:endParaRPr lang="en-US" altLang="ja-JP" sz="1200" strike="sngStrike" dirty="0"/>
          </a:p>
          <a:p>
            <a:r>
              <a:rPr lang="ja-JP" altLang="en-US" sz="1200"/>
              <a:t>　　　・掲示場所入力欄にチェックボックスをつけて、チェックありの場所が必須スタンプ</a:t>
            </a:r>
            <a:endParaRPr lang="en-US" altLang="ja-JP" sz="1200" dirty="0"/>
          </a:p>
          <a:p>
            <a:r>
              <a:rPr lang="ja-JP" altLang="en-US" sz="1200"/>
              <a:t>　　　　（必須以外のスタンプを何個集めたかによる景品の差などは、運営時に決める）</a:t>
            </a:r>
          </a:p>
          <a:p>
            <a:r>
              <a:rPr lang="ja-JP" altLang="en-US" sz="1200"/>
              <a:t>　　―掲示場所ごとに</a:t>
            </a:r>
          </a:p>
          <a:p>
            <a:r>
              <a:rPr lang="ja-JP" altLang="en-US" sz="1200"/>
              <a:t>　　　・掲示場所名</a:t>
            </a:r>
          </a:p>
          <a:p>
            <a:r>
              <a:rPr lang="ja-JP" altLang="en-US" sz="1200"/>
              <a:t>　「作成する」ボタンでPDFを出力</a:t>
            </a:r>
          </a:p>
          <a:p>
            <a:r>
              <a:rPr lang="ja-JP" altLang="en-US" sz="1200"/>
              <a:t>　同時に後日プロジェクトを読み出すため、プロジェクトの内容が書かれたjsonファイルを出力</a:t>
            </a:r>
          </a:p>
          <a:p>
            <a:r>
              <a:rPr lang="ja-JP" altLang="en-US" sz="1200"/>
              <a:t>　「以前作ったスタンプラリーを読み出す」</a:t>
            </a:r>
          </a:p>
          <a:p>
            <a:r>
              <a:rPr lang="ja-JP" altLang="en-US" sz="1200"/>
              <a:t>　jsonファイルを指定しプロジェクトを読み出す</a:t>
            </a:r>
          </a:p>
          <a:p>
            <a:r>
              <a:rPr lang="ja-JP" altLang="en-US" sz="1200"/>
              <a:t>　プロジェクト読み出し後は、「新しいスタンプラリーを作成画面」と同等</a:t>
            </a:r>
          </a:p>
          <a:p>
            <a:r>
              <a:rPr lang="ja-JP" altLang="en-US" sz="1200"/>
              <a:t>＞スタンプ読み取り完了画面</a:t>
            </a:r>
            <a:r>
              <a:rPr lang="en-US" altLang="ja-JP" sz="1200" dirty="0"/>
              <a:t>(</a:t>
            </a:r>
            <a:r>
              <a:rPr lang="ja-JP" altLang="en-US" sz="1200"/>
              <a:t>利用者</a:t>
            </a:r>
            <a:r>
              <a:rPr lang="en-US" altLang="ja-JP" sz="1200" dirty="0"/>
              <a:t>)</a:t>
            </a:r>
            <a:endParaRPr lang="ja-JP" altLang="en-US" sz="1200"/>
          </a:p>
          <a:p>
            <a:r>
              <a:rPr lang="ja-JP" altLang="en-US" sz="1200"/>
              <a:t>　・来場者がQRコードを読み取った後に表示される画面</a:t>
            </a:r>
          </a:p>
          <a:p>
            <a:r>
              <a:rPr lang="ja-JP" altLang="en-US" sz="1200"/>
              <a:t>　・読み取ったQRコードの場所名が表示される</a:t>
            </a:r>
          </a:p>
          <a:p>
            <a:r>
              <a:rPr lang="ja-JP" altLang="en-US" sz="1200"/>
              <a:t>　・それまでに読み取ったスタンプ(QR)の一覧が表示される</a:t>
            </a:r>
          </a:p>
          <a:p>
            <a:r>
              <a:rPr lang="ja-JP" altLang="en-US" sz="1200"/>
              <a:t>　・ゴール条件を満たしている場合、達成コードを表示</a:t>
            </a:r>
          </a:p>
          <a:p>
            <a:r>
              <a:rPr lang="ja-JP" altLang="en-US" sz="1200"/>
              <a:t>　　・達成コードはサーバーにも保存されており、主催者の集計画面でコード入力すると達成有無を照会できる</a:t>
            </a:r>
          </a:p>
          <a:p>
            <a:r>
              <a:rPr lang="ja-JP" altLang="en-US" sz="1200"/>
              <a:t>　　・達成コードはイベントごとにユニークな８桁の10進数</a:t>
            </a:r>
          </a:p>
          <a:p>
            <a:r>
              <a:rPr lang="ja-JP" altLang="en-US" sz="1200"/>
              <a:t>　　・達成コードは「スタンプ読み取り完了画面」でいつでも確認できる</a:t>
            </a:r>
          </a:p>
          <a:p>
            <a:r>
              <a:rPr lang="ja-JP" altLang="en-US" sz="1200"/>
              <a:t>　　・「スタンプ読み取り完了画面」へのアクセスのみをするためのQRコードも用意し、主催者の手元におけるようにする</a:t>
            </a:r>
          </a:p>
          <a:p>
            <a:r>
              <a:rPr lang="ja-JP" altLang="en-US" sz="1200"/>
              <a:t>　・QRコードが有効期限外の場合、その旨エラー表示する</a:t>
            </a:r>
          </a:p>
          <a:p>
            <a:r>
              <a:rPr lang="ja-JP" altLang="en-US" sz="1200"/>
              <a:t>　・読み取り済みのQRコードの場合、その旨表示する</a:t>
            </a:r>
          </a:p>
          <a:p>
            <a:r>
              <a:rPr lang="ja-JP" altLang="en-US" sz="1200"/>
              <a:t>　・主催者</a:t>
            </a:r>
          </a:p>
        </p:txBody>
      </p:sp>
    </p:spTree>
    <p:extLst>
      <p:ext uri="{BB962C8B-B14F-4D97-AF65-F5344CB8AC3E}">
        <p14:creationId xmlns:p14="http://schemas.microsoft.com/office/powerpoint/2010/main" val="4019577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FE6A-FBAD-7AD4-BA33-CEE44C835943}"/>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DEC8B636-99EE-2950-6937-0043E65216F0}"/>
              </a:ext>
            </a:extLst>
          </p:cNvPr>
          <p:cNvSpPr txBox="1"/>
          <p:nvPr/>
        </p:nvSpPr>
        <p:spPr>
          <a:xfrm>
            <a:off x="114298" y="0"/>
            <a:ext cx="12077701" cy="3970318"/>
          </a:xfrm>
          <a:prstGeom prst="rect">
            <a:avLst/>
          </a:prstGeom>
          <a:noFill/>
        </p:spPr>
        <p:txBody>
          <a:bodyPr wrap="square">
            <a:spAutoFit/>
          </a:bodyPr>
          <a:lstStyle/>
          <a:p>
            <a:r>
              <a:rPr lang="ja-JP" altLang="en-US" sz="1200"/>
              <a:t>＞ゴール確認画面画面</a:t>
            </a:r>
            <a:r>
              <a:rPr lang="en-US" altLang="ja-JP" sz="1200" dirty="0"/>
              <a:t>(</a:t>
            </a:r>
            <a:r>
              <a:rPr lang="ja-JP" altLang="en-US" sz="1200"/>
              <a:t>利用者</a:t>
            </a:r>
            <a:r>
              <a:rPr lang="en-US" altLang="ja-JP" sz="1200" dirty="0"/>
              <a:t>)</a:t>
            </a:r>
            <a:endParaRPr lang="ja-JP" altLang="en-US" sz="1200"/>
          </a:p>
          <a:p>
            <a:r>
              <a:rPr lang="ja-JP" altLang="en-US" sz="1200"/>
              <a:t>　・利用者ゴール</a:t>
            </a:r>
            <a:r>
              <a:rPr lang="en-US" altLang="ja-JP" sz="1200" dirty="0"/>
              <a:t>QR</a:t>
            </a:r>
            <a:r>
              <a:rPr lang="ja-JP" altLang="en-US" sz="1200"/>
              <a:t>コードを読み取ったら表示される</a:t>
            </a:r>
            <a:endParaRPr lang="en-US" altLang="ja-JP" sz="1200" dirty="0"/>
          </a:p>
          <a:p>
            <a:r>
              <a:rPr lang="ja-JP" altLang="en-US" sz="1200"/>
              <a:t>　・「ゴールする」ボタンが表示される</a:t>
            </a:r>
            <a:endParaRPr lang="en-US" altLang="ja-JP" sz="1200" dirty="0"/>
          </a:p>
          <a:p>
            <a:r>
              <a:rPr lang="ja-JP" altLang="en-US" sz="1200"/>
              <a:t>　・ 「ゴールする」ボタンを押すとゴールになり</a:t>
            </a:r>
            <a:endParaRPr lang="en-US" altLang="ja-JP" sz="1200" dirty="0"/>
          </a:p>
          <a:p>
            <a:r>
              <a:rPr lang="ja-JP" altLang="en-US" sz="1200"/>
              <a:t>　・ゴールになると、以後</a:t>
            </a:r>
            <a:r>
              <a:rPr lang="en-US" altLang="ja-JP" sz="1200" dirty="0"/>
              <a:t>QR</a:t>
            </a:r>
            <a:r>
              <a:rPr lang="ja-JP" altLang="en-US" sz="1200"/>
              <a:t>コードの読み取りはできない</a:t>
            </a:r>
            <a:endParaRPr lang="en-US" altLang="ja-JP" sz="1200" dirty="0"/>
          </a:p>
          <a:p>
            <a:r>
              <a:rPr lang="ja-JP" altLang="en-US" sz="1200"/>
              <a:t>　・収集したスタンプが表示され、主催者が確認できる</a:t>
            </a:r>
            <a:endParaRPr lang="en-US" altLang="ja-JP" sz="1200" dirty="0"/>
          </a:p>
          <a:p>
            <a:r>
              <a:rPr lang="ja-JP" altLang="en-US" sz="1200"/>
              <a:t>＞集計画面</a:t>
            </a:r>
            <a:r>
              <a:rPr lang="en-US" altLang="ja-JP" sz="1200" dirty="0"/>
              <a:t>(</a:t>
            </a:r>
            <a:r>
              <a:rPr lang="ja-JP" altLang="en-US" sz="1200"/>
              <a:t>主催者</a:t>
            </a:r>
            <a:r>
              <a:rPr lang="en-US" altLang="ja-JP" sz="1200" dirty="0"/>
              <a:t>)</a:t>
            </a:r>
            <a:endParaRPr lang="ja-JP" altLang="en-US" sz="1200"/>
          </a:p>
          <a:p>
            <a:r>
              <a:rPr lang="ja-JP" altLang="en-US" sz="1200"/>
              <a:t>　・各掲示場所での毎時の読み取り回数</a:t>
            </a:r>
          </a:p>
          <a:p>
            <a:r>
              <a:rPr lang="ja-JP" altLang="en-US" sz="1200"/>
              <a:t>　・各掲示場所での合計の読み取り回数</a:t>
            </a:r>
          </a:p>
          <a:p>
            <a:r>
              <a:rPr lang="ja-JP" altLang="en-US" sz="1200"/>
              <a:t>　・毎時のゴール人数</a:t>
            </a:r>
          </a:p>
          <a:p>
            <a:r>
              <a:rPr lang="ja-JP" altLang="en-US" sz="1200"/>
              <a:t>　・合計のゴール人数</a:t>
            </a:r>
          </a:p>
          <a:p>
            <a:endParaRPr lang="ja-JP" altLang="en-US" sz="1200"/>
          </a:p>
          <a:p>
            <a:r>
              <a:rPr lang="ja-JP" altLang="en-US" sz="1200"/>
              <a:t>○その他機能</a:t>
            </a:r>
          </a:p>
          <a:p>
            <a:r>
              <a:rPr lang="ja-JP" altLang="en-US" sz="1200"/>
              <a:t>　・スタンプ読み取りは端末(のブラウザ)単位で管理する</a:t>
            </a:r>
          </a:p>
          <a:p>
            <a:r>
              <a:rPr lang="ja-JP" altLang="en-US" sz="1200"/>
              <a:t>　　・ブラウザ内部のストレージを使用し読み取り履歴管理等のキーを保存する</a:t>
            </a:r>
          </a:p>
          <a:p>
            <a:r>
              <a:rPr lang="ja-JP" altLang="en-US" sz="1200"/>
              <a:t>　　　・初回アクセス時に visitorId（UUID）を生成して localStorage に保存</a:t>
            </a:r>
          </a:p>
          <a:p>
            <a:r>
              <a:rPr lang="ja-JP" altLang="en-US" sz="1200"/>
              <a:t>　　　・eventId ごとに stamps[eventId] = { spotId: timestamp } みたいに保持</a:t>
            </a:r>
          </a:p>
          <a:p>
            <a:r>
              <a:rPr lang="ja-JP" altLang="en-US" sz="1200"/>
              <a:t>　　　※初回リリース時は端末の引継ぎ等は想定しない(短期間イベントでの活用がメインだと踏んでいるため)</a:t>
            </a:r>
          </a:p>
          <a:p>
            <a:r>
              <a:rPr lang="ja-JP" altLang="en-US" sz="1200"/>
              <a:t>　　・同一端末で、同一QRコードを複数回読み取ったとしても読み取りカウントは１回</a:t>
            </a:r>
          </a:p>
          <a:p>
            <a:r>
              <a:rPr lang="ja-JP" altLang="en-US" sz="1200"/>
              <a:t>　　　・ただし、読み取りのログはサーバーに残す</a:t>
            </a:r>
          </a:p>
          <a:p>
            <a:r>
              <a:rPr lang="ja-JP" altLang="en-US" sz="1200"/>
              <a:t>　　・同一端末で、複数ブラウザを使っての読み取りに関しては許容する(制限しようがない)</a:t>
            </a:r>
          </a:p>
        </p:txBody>
      </p:sp>
    </p:spTree>
    <p:extLst>
      <p:ext uri="{BB962C8B-B14F-4D97-AF65-F5344CB8AC3E}">
        <p14:creationId xmlns:p14="http://schemas.microsoft.com/office/powerpoint/2010/main" val="4200366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79C7C-D478-1248-65A2-784DA6FE3F3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654293F-390D-79EB-0280-2017610F0E60}"/>
              </a:ext>
            </a:extLst>
          </p:cNvPr>
          <p:cNvSpPr txBox="1"/>
          <p:nvPr/>
        </p:nvSpPr>
        <p:spPr>
          <a:xfrm>
            <a:off x="902368" y="914400"/>
            <a:ext cx="4030579" cy="584775"/>
          </a:xfrm>
          <a:prstGeom prst="rect">
            <a:avLst/>
          </a:prstGeom>
          <a:noFill/>
        </p:spPr>
        <p:txBody>
          <a:bodyPr wrap="square" rtlCol="0">
            <a:spAutoFit/>
          </a:bodyPr>
          <a:lstStyle/>
          <a:p>
            <a:r>
              <a:rPr kumimoji="1" lang="ja-JP" altLang="en-US" sz="3200"/>
              <a:t>技術</a:t>
            </a:r>
          </a:p>
        </p:txBody>
      </p:sp>
    </p:spTree>
    <p:extLst>
      <p:ext uri="{BB962C8B-B14F-4D97-AF65-F5344CB8AC3E}">
        <p14:creationId xmlns:p14="http://schemas.microsoft.com/office/powerpoint/2010/main" val="12522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328B-E227-9FAA-8D22-1A7ED63B2D33}"/>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5D80B2C9-F15B-E120-16A8-E6D98C4937AB}"/>
              </a:ext>
            </a:extLst>
          </p:cNvPr>
          <p:cNvSpPr txBox="1"/>
          <p:nvPr/>
        </p:nvSpPr>
        <p:spPr>
          <a:xfrm>
            <a:off x="114298" y="0"/>
            <a:ext cx="12077701" cy="338554"/>
          </a:xfrm>
          <a:prstGeom prst="rect">
            <a:avLst/>
          </a:prstGeom>
          <a:noFill/>
        </p:spPr>
        <p:txBody>
          <a:bodyPr wrap="square">
            <a:spAutoFit/>
          </a:bodyPr>
          <a:lstStyle/>
          <a:p>
            <a:r>
              <a:rPr lang="en-US" altLang="ja-JP" sz="1600" dirty="0"/>
              <a:t>URL</a:t>
            </a:r>
            <a:r>
              <a:rPr lang="ja-JP" altLang="en-US" sz="1600"/>
              <a:t>から</a:t>
            </a:r>
            <a:r>
              <a:rPr lang="en-US" altLang="ja-JP" sz="1600" dirty="0"/>
              <a:t>QR</a:t>
            </a:r>
            <a:r>
              <a:rPr lang="ja-JP" altLang="en-US" sz="1600"/>
              <a:t>コード生成</a:t>
            </a:r>
          </a:p>
        </p:txBody>
      </p:sp>
      <p:sp>
        <p:nvSpPr>
          <p:cNvPr id="2" name="テキスト ボックス 1">
            <a:extLst>
              <a:ext uri="{FF2B5EF4-FFF2-40B4-BE49-F238E27FC236}">
                <a16:creationId xmlns:a16="http://schemas.microsoft.com/office/drawing/2014/main" id="{CDCAF1C2-DA56-6B5F-A7BC-ED674FC01BED}"/>
              </a:ext>
            </a:extLst>
          </p:cNvPr>
          <p:cNvSpPr txBox="1"/>
          <p:nvPr/>
        </p:nvSpPr>
        <p:spPr>
          <a:xfrm>
            <a:off x="114299" y="1696453"/>
            <a:ext cx="12077701" cy="338554"/>
          </a:xfrm>
          <a:prstGeom prst="rect">
            <a:avLst/>
          </a:prstGeom>
          <a:noFill/>
        </p:spPr>
        <p:txBody>
          <a:bodyPr wrap="square">
            <a:spAutoFit/>
          </a:bodyPr>
          <a:lstStyle/>
          <a:p>
            <a:r>
              <a:rPr lang="en-US" altLang="ja-JP" sz="1600" dirty="0"/>
              <a:t>PDF</a:t>
            </a:r>
            <a:r>
              <a:rPr lang="ja-JP" altLang="en-US" sz="1600"/>
              <a:t>生成</a:t>
            </a:r>
          </a:p>
        </p:txBody>
      </p:sp>
      <p:sp>
        <p:nvSpPr>
          <p:cNvPr id="3" name="テキスト ボックス 2">
            <a:extLst>
              <a:ext uri="{FF2B5EF4-FFF2-40B4-BE49-F238E27FC236}">
                <a16:creationId xmlns:a16="http://schemas.microsoft.com/office/drawing/2014/main" id="{ED1E7D78-2E70-D450-9127-B50D73702606}"/>
              </a:ext>
            </a:extLst>
          </p:cNvPr>
          <p:cNvSpPr txBox="1"/>
          <p:nvPr/>
        </p:nvSpPr>
        <p:spPr>
          <a:xfrm>
            <a:off x="318836" y="445169"/>
            <a:ext cx="11873164" cy="276999"/>
          </a:xfrm>
          <a:prstGeom prst="rect">
            <a:avLst/>
          </a:prstGeom>
          <a:noFill/>
        </p:spPr>
        <p:txBody>
          <a:bodyPr wrap="square">
            <a:spAutoFit/>
          </a:bodyPr>
          <a:lstStyle/>
          <a:p>
            <a:r>
              <a:rPr lang="en" altLang="ja-JP" sz="1200" b="1" dirty="0" err="1"/>
              <a:t>QRCoder</a:t>
            </a:r>
            <a:r>
              <a:rPr lang="en" altLang="ja-JP" sz="1200" dirty="0"/>
              <a:t> </a:t>
            </a:r>
            <a:r>
              <a:rPr lang="ja-JP" altLang="en-US" sz="1200"/>
              <a:t>というライブラリ</a:t>
            </a:r>
          </a:p>
        </p:txBody>
      </p:sp>
      <p:sp>
        <p:nvSpPr>
          <p:cNvPr id="4" name="テキスト ボックス 3">
            <a:extLst>
              <a:ext uri="{FF2B5EF4-FFF2-40B4-BE49-F238E27FC236}">
                <a16:creationId xmlns:a16="http://schemas.microsoft.com/office/drawing/2014/main" id="{74F3CB59-6DEA-C4AF-6A3A-2C59D95DB739}"/>
              </a:ext>
            </a:extLst>
          </p:cNvPr>
          <p:cNvSpPr txBox="1"/>
          <p:nvPr/>
        </p:nvSpPr>
        <p:spPr>
          <a:xfrm>
            <a:off x="318836" y="2035007"/>
            <a:ext cx="11873164" cy="276999"/>
          </a:xfrm>
          <a:prstGeom prst="rect">
            <a:avLst/>
          </a:prstGeom>
          <a:noFill/>
        </p:spPr>
        <p:txBody>
          <a:bodyPr wrap="square">
            <a:spAutoFit/>
          </a:bodyPr>
          <a:lstStyle/>
          <a:p>
            <a:r>
              <a:rPr lang="en" altLang="ja-JP" sz="1200" b="1" dirty="0"/>
              <a:t>iText7 or </a:t>
            </a:r>
            <a:r>
              <a:rPr lang="en" altLang="ja-JP" sz="1200" b="1" dirty="0" err="1"/>
              <a:t>QuestPDF</a:t>
            </a:r>
            <a:r>
              <a:rPr lang="en" altLang="ja-JP" sz="1200" dirty="0"/>
              <a:t> </a:t>
            </a:r>
            <a:endParaRPr lang="ja-JP" altLang="en-US" sz="1200"/>
          </a:p>
        </p:txBody>
      </p:sp>
      <p:sp>
        <p:nvSpPr>
          <p:cNvPr id="6" name="テキスト ボックス 5">
            <a:extLst>
              <a:ext uri="{FF2B5EF4-FFF2-40B4-BE49-F238E27FC236}">
                <a16:creationId xmlns:a16="http://schemas.microsoft.com/office/drawing/2014/main" id="{E4421882-1A81-EB68-D9AA-744B8A5B1A1A}"/>
              </a:ext>
            </a:extLst>
          </p:cNvPr>
          <p:cNvSpPr txBox="1"/>
          <p:nvPr/>
        </p:nvSpPr>
        <p:spPr>
          <a:xfrm>
            <a:off x="114299" y="3332747"/>
            <a:ext cx="12077701" cy="338554"/>
          </a:xfrm>
          <a:prstGeom prst="rect">
            <a:avLst/>
          </a:prstGeom>
          <a:noFill/>
        </p:spPr>
        <p:txBody>
          <a:bodyPr wrap="square">
            <a:spAutoFit/>
          </a:bodyPr>
          <a:lstStyle/>
          <a:p>
            <a:r>
              <a:rPr lang="en-US" altLang="ja-JP" sz="1600" dirty="0"/>
              <a:t>API</a:t>
            </a:r>
            <a:endParaRPr lang="ja-JP" altLang="en-US" sz="1600"/>
          </a:p>
        </p:txBody>
      </p:sp>
      <p:sp>
        <p:nvSpPr>
          <p:cNvPr id="7" name="テキスト ボックス 6">
            <a:extLst>
              <a:ext uri="{FF2B5EF4-FFF2-40B4-BE49-F238E27FC236}">
                <a16:creationId xmlns:a16="http://schemas.microsoft.com/office/drawing/2014/main" id="{44AC6492-5B81-F720-1201-D84D99009185}"/>
              </a:ext>
            </a:extLst>
          </p:cNvPr>
          <p:cNvSpPr txBox="1"/>
          <p:nvPr/>
        </p:nvSpPr>
        <p:spPr>
          <a:xfrm>
            <a:off x="318836" y="3671301"/>
            <a:ext cx="11873164" cy="276999"/>
          </a:xfrm>
          <a:prstGeom prst="rect">
            <a:avLst/>
          </a:prstGeom>
          <a:noFill/>
        </p:spPr>
        <p:txBody>
          <a:bodyPr wrap="square">
            <a:spAutoFit/>
          </a:bodyPr>
          <a:lstStyle/>
          <a:p>
            <a:r>
              <a:rPr lang="en" altLang="ja-JP" sz="1200" b="1" dirty="0"/>
              <a:t>iText7 or </a:t>
            </a:r>
            <a:r>
              <a:rPr lang="en" altLang="ja-JP" sz="1200" b="1" dirty="0" err="1"/>
              <a:t>QuestPDF</a:t>
            </a:r>
            <a:r>
              <a:rPr lang="en" altLang="ja-JP" sz="1200" dirty="0"/>
              <a:t> </a:t>
            </a:r>
            <a:endParaRPr lang="ja-JP" altLang="en-US" sz="1200"/>
          </a:p>
        </p:txBody>
      </p:sp>
    </p:spTree>
    <p:extLst>
      <p:ext uri="{BB962C8B-B14F-4D97-AF65-F5344CB8AC3E}">
        <p14:creationId xmlns:p14="http://schemas.microsoft.com/office/powerpoint/2010/main" val="324292491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727</TotalTime>
  <Words>991</Words>
  <Application>Microsoft Macintosh PowerPoint</Application>
  <PresentationFormat>ワイド画面</PresentationFormat>
  <Paragraphs>95</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昌平 奥松</dc:creator>
  <cp:lastModifiedBy>昌平 奥松</cp:lastModifiedBy>
  <cp:revision>5</cp:revision>
  <dcterms:created xsi:type="dcterms:W3CDTF">2026-02-05T10:12:37Z</dcterms:created>
  <dcterms:modified xsi:type="dcterms:W3CDTF">2026-02-05T22:19:47Z</dcterms:modified>
</cp:coreProperties>
</file>